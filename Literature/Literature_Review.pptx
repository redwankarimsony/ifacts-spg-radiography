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5" r:id="rId4"/>
  </p:sldMasterIdLst>
  <p:notesMasterIdLst>
    <p:notesMasterId r:id="rId9"/>
  </p:notes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63"/>
    <p:restoredTop sz="96654"/>
  </p:normalViewPr>
  <p:slideViewPr>
    <p:cSldViewPr snapToGrid="0">
      <p:cViewPr varScale="1">
        <p:scale>
          <a:sx n="116" d="100"/>
          <a:sy n="116" d="100"/>
        </p:scale>
        <p:origin x="200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6" d="100"/>
        <a:sy n="12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12/14/22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8D7368D-31D9-8101-473D-CD39E706F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96401" y="3378954"/>
            <a:ext cx="6394567" cy="3479046"/>
          </a:xfrm>
          <a:custGeom>
            <a:avLst/>
            <a:gdLst>
              <a:gd name="connsiteX0" fmla="*/ 5171297 w 6394567"/>
              <a:gd name="connsiteY0" fmla="*/ 284 h 3479046"/>
              <a:gd name="connsiteX1" fmla="*/ 6394290 w 6394567"/>
              <a:gd name="connsiteY1" fmla="*/ 430072 h 3479046"/>
              <a:gd name="connsiteX2" fmla="*/ 6394567 w 6394567"/>
              <a:gd name="connsiteY2" fmla="*/ 430316 h 3479046"/>
              <a:gd name="connsiteX3" fmla="*/ 6394567 w 6394567"/>
              <a:gd name="connsiteY3" fmla="*/ 3479046 h 3479046"/>
              <a:gd name="connsiteX4" fmla="*/ 0 w 6394567"/>
              <a:gd name="connsiteY4" fmla="*/ 3479046 h 3479046"/>
              <a:gd name="connsiteX5" fmla="*/ 3916974 w 6394567"/>
              <a:gd name="connsiteY5" fmla="*/ 405504 h 3479046"/>
              <a:gd name="connsiteX6" fmla="*/ 3959456 w 6394567"/>
              <a:gd name="connsiteY6" fmla="*/ 373857 h 3479046"/>
              <a:gd name="connsiteX7" fmla="*/ 5052215 w 6394567"/>
              <a:gd name="connsiteY7" fmla="*/ 1756 h 3479046"/>
              <a:gd name="connsiteX8" fmla="*/ 5171297 w 6394567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394567" h="3479046">
                <a:moveTo>
                  <a:pt x="5171297" y="284"/>
                </a:moveTo>
                <a:cubicBezTo>
                  <a:pt x="5607674" y="7531"/>
                  <a:pt x="6039042" y="153650"/>
                  <a:pt x="6394290" y="430072"/>
                </a:cubicBezTo>
                <a:lnTo>
                  <a:pt x="6394567" y="430316"/>
                </a:lnTo>
                <a:lnTo>
                  <a:pt x="6394567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39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32C74-82F4-2A29-889B-EF23CEE6A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6801" y="1122363"/>
            <a:ext cx="6211185" cy="2305246"/>
          </a:xfrm>
        </p:spPr>
        <p:txBody>
          <a:bodyPr anchor="b">
            <a:norm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ACADD6-278F-604C-8A38-BBBAFC675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2" y="3549048"/>
            <a:ext cx="5029198" cy="1956278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3946B-3F5A-C916-B62B-8D5938EA8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6539F-2DB8-FCDA-C884-9C3CD29B8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AA7B3-5D3B-D493-8F6F-1FEBB8576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276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A4769-9A55-AF9B-4CE4-DFA07E71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45D9E-DBB4-B890-88D5-B4C03599E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15260-1C0B-A965-3114-D7C40D18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F4D1-0334-3F24-69B4-06C7BD742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BA76D-3B8B-429D-9B32-54D6A6297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192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8D9C414-4A2F-78AF-ED60-6130D4C563B3}"/>
              </a:ext>
            </a:extLst>
          </p:cNvPr>
          <p:cNvSpPr/>
          <p:nvPr/>
        </p:nvSpPr>
        <p:spPr>
          <a:xfrm>
            <a:off x="6284115" y="3378954"/>
            <a:ext cx="5907885" cy="3479046"/>
          </a:xfrm>
          <a:custGeom>
            <a:avLst/>
            <a:gdLst>
              <a:gd name="connsiteX0" fmla="*/ 5171297 w 5907885"/>
              <a:gd name="connsiteY0" fmla="*/ 284 h 3479046"/>
              <a:gd name="connsiteX1" fmla="*/ 5813217 w 5907885"/>
              <a:gd name="connsiteY1" fmla="*/ 114238 h 3479046"/>
              <a:gd name="connsiteX2" fmla="*/ 5907885 w 5907885"/>
              <a:gd name="connsiteY2" fmla="*/ 151524 h 3479046"/>
              <a:gd name="connsiteX3" fmla="*/ 5907885 w 5907885"/>
              <a:gd name="connsiteY3" fmla="*/ 3479046 h 3479046"/>
              <a:gd name="connsiteX4" fmla="*/ 0 w 5907885"/>
              <a:gd name="connsiteY4" fmla="*/ 3479046 h 3479046"/>
              <a:gd name="connsiteX5" fmla="*/ 3916974 w 5907885"/>
              <a:gd name="connsiteY5" fmla="*/ 405504 h 3479046"/>
              <a:gd name="connsiteX6" fmla="*/ 3959456 w 5907885"/>
              <a:gd name="connsiteY6" fmla="*/ 373857 h 3479046"/>
              <a:gd name="connsiteX7" fmla="*/ 5052215 w 5907885"/>
              <a:gd name="connsiteY7" fmla="*/ 1756 h 3479046"/>
              <a:gd name="connsiteX8" fmla="*/ 5171297 w 5907885"/>
              <a:gd name="connsiteY8" fmla="*/ 284 h 3479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07885" h="3479046">
                <a:moveTo>
                  <a:pt x="5171297" y="284"/>
                </a:moveTo>
                <a:cubicBezTo>
                  <a:pt x="5389485" y="3908"/>
                  <a:pt x="5606422" y="42249"/>
                  <a:pt x="5813217" y="114238"/>
                </a:cubicBezTo>
                <a:lnTo>
                  <a:pt x="5907885" y="151524"/>
                </a:lnTo>
                <a:lnTo>
                  <a:pt x="5907885" y="3479046"/>
                </a:lnTo>
                <a:lnTo>
                  <a:pt x="0" y="3479046"/>
                </a:lnTo>
                <a:lnTo>
                  <a:pt x="3916974" y="405504"/>
                </a:lnTo>
                <a:lnTo>
                  <a:pt x="3959456" y="373857"/>
                </a:lnTo>
                <a:cubicBezTo>
                  <a:pt x="4291086" y="139664"/>
                  <a:pt x="4671097" y="17528"/>
                  <a:pt x="5052215" y="1756"/>
                </a:cubicBezTo>
                <a:cubicBezTo>
                  <a:pt x="5091916" y="114"/>
                  <a:pt x="5131627" y="-375"/>
                  <a:pt x="5171297" y="284"/>
                </a:cubicBezTo>
                <a:close/>
              </a:path>
            </a:pathLst>
          </a:custGeom>
          <a:gradFill>
            <a:gsLst>
              <a:gs pos="2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410AE4-7FC7-589E-B6D3-0DA7B5FC5CE3}"/>
              </a:ext>
            </a:extLst>
          </p:cNvPr>
          <p:cNvSpPr/>
          <p:nvPr/>
        </p:nvSpPr>
        <p:spPr>
          <a:xfrm flipH="1" flipV="1">
            <a:off x="0" y="0"/>
            <a:ext cx="2923855" cy="1479128"/>
          </a:xfrm>
          <a:custGeom>
            <a:avLst/>
            <a:gdLst>
              <a:gd name="connsiteX0" fmla="*/ 2923855 w 2923855"/>
              <a:gd name="connsiteY0" fmla="*/ 1479128 h 1479128"/>
              <a:gd name="connsiteX1" fmla="*/ 0 w 2923855"/>
              <a:gd name="connsiteY1" fmla="*/ 1479128 h 1479128"/>
              <a:gd name="connsiteX2" fmla="*/ 1368245 w 2923855"/>
              <a:gd name="connsiteY2" fmla="*/ 405504 h 1479128"/>
              <a:gd name="connsiteX3" fmla="*/ 1410727 w 2923855"/>
              <a:gd name="connsiteY3" fmla="*/ 373857 h 1479128"/>
              <a:gd name="connsiteX4" fmla="*/ 2503486 w 2923855"/>
              <a:gd name="connsiteY4" fmla="*/ 1756 h 1479128"/>
              <a:gd name="connsiteX5" fmla="*/ 2622568 w 2923855"/>
              <a:gd name="connsiteY5" fmla="*/ 284 h 1479128"/>
              <a:gd name="connsiteX6" fmla="*/ 2785835 w 2923855"/>
              <a:gd name="connsiteY6" fmla="*/ 9494 h 1479128"/>
              <a:gd name="connsiteX7" fmla="*/ 2923855 w 2923855"/>
              <a:gd name="connsiteY7" fmla="*/ 28352 h 1479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23855" h="1479128">
                <a:moveTo>
                  <a:pt x="2923855" y="1479128"/>
                </a:moveTo>
                <a:lnTo>
                  <a:pt x="0" y="1479128"/>
                </a:lnTo>
                <a:lnTo>
                  <a:pt x="1368245" y="405504"/>
                </a:lnTo>
                <a:lnTo>
                  <a:pt x="1410727" y="373857"/>
                </a:lnTo>
                <a:cubicBezTo>
                  <a:pt x="1742357" y="139664"/>
                  <a:pt x="2122368" y="17528"/>
                  <a:pt x="2503486" y="1756"/>
                </a:cubicBezTo>
                <a:cubicBezTo>
                  <a:pt x="2543187" y="114"/>
                  <a:pt x="2582898" y="-375"/>
                  <a:pt x="2622568" y="284"/>
                </a:cubicBezTo>
                <a:cubicBezTo>
                  <a:pt x="2677115" y="1190"/>
                  <a:pt x="2731584" y="4266"/>
                  <a:pt x="2785835" y="9494"/>
                </a:cubicBezTo>
                <a:lnTo>
                  <a:pt x="2923855" y="28352"/>
                </a:lnTo>
                <a:close/>
              </a:path>
            </a:pathLst>
          </a:custGeom>
          <a:gradFill>
            <a:gsLst>
              <a:gs pos="33000">
                <a:schemeClr val="bg2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81CBD-08D9-3C9A-7620-24F2D6404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9738"/>
            <a:ext cx="6455434" cy="29812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5AE2B-1716-CEEC-73F8-E81F59192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4759252"/>
            <a:ext cx="5397260" cy="95574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052-6EE8-979F-04FB-1B8DF81F2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986285-161A-6869-27C2-0A159C234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ED64F-5DAB-238D-C34A-1DCCB122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7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484D0-7460-7B08-F1EE-96EABE402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799" y="936841"/>
            <a:ext cx="10092477" cy="953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0B7F9-8ECB-7079-A11E-51D3903E2B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66800" y="2117341"/>
            <a:ext cx="4809482" cy="3760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97161-CAF5-CA48-D814-7ACD43AB99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9795" y="2117341"/>
            <a:ext cx="4809482" cy="3760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BD680-4E7A-5155-3CAE-6BD44EE8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A152D-EFF2-B3AA-3F25-14E113673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BD6032-FD7A-BFFD-9BE5-48EDBEFBD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145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7F4D-4855-340E-03F3-4860885EC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63283"/>
            <a:ext cx="10096500" cy="91600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EB472-7426-C288-B5F6-0A1232DCED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1" y="1879287"/>
            <a:ext cx="4739628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194F9C-B6FA-97C3-F618-0CF956CB5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66801" y="2505075"/>
            <a:ext cx="4739628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5665C-7910-AFA2-350F-42C06ED5AF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330" y="1879287"/>
            <a:ext cx="4762970" cy="582117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all" spc="2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71352E-1DE0-F0CD-6F81-1D8FF59C2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00330" y="2505075"/>
            <a:ext cx="4762970" cy="33896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8F7E4-7D9E-4736-3269-4F0C46996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386CF-9A84-8D2A-BC47-C951DD99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80844D-FE1F-49E7-3BBD-527FB72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78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F691C-93A5-1364-00A9-A470C289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357223"/>
            <a:ext cx="8886884" cy="104307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E055BD-4154-B9D1-0B5B-B1E3A06B6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A9E4A-03D1-7A8B-233D-014A324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2CEFC4-D276-DF45-F395-F5BD2EA7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05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2C0AD-76F4-FCE4-2717-0A9AA435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3BB66-3F41-7F1D-5108-B3F679A88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A6DA0-07AE-4BE4-B82F-7936D0E3E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71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BFB75-C953-0BD0-4E2E-717767426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70626"/>
            <a:ext cx="3705225" cy="128677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1AA52-60F3-40F2-673B-5848F4253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75426"/>
            <a:ext cx="5980112" cy="47683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167E8-C561-5A72-AED3-442F66DDE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BFED3-7CB3-1B8B-9504-13A121CAD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456C9-19A0-4441-B1AF-B7AFBF642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898EA-84CC-411C-0012-D31495369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0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1E10-1458-2553-05B4-313F7E26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782128"/>
            <a:ext cx="3705225" cy="1275272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0F677-F177-6DED-1920-685B9D9FF2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143000"/>
            <a:ext cx="5980112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D1CB1-2109-480E-8904-4077C94D6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6800" y="2057400"/>
            <a:ext cx="3705225" cy="36576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0DB38-7CB9-2140-BC21-6D2E7DD0B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448AD-3B1D-4B5E-CAB9-BB5FD2CD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EEF53D-CF5A-87A2-E973-3B8CCDEBA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34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50D2E-0561-F284-F89A-AAE3CD09A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10239338" cy="9536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57C4C-16EC-2477-6332-830F5301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9848" y="2139696"/>
            <a:ext cx="10239338" cy="367768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940D3-6996-1C08-F1AF-87C35465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676C3-588F-B636-8CE0-AA2CBFBCE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EF8A9-EB1E-B344-A4B8-B58D06336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628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EF3A28-33E4-2796-AE7A-1234569F5C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44950" y="1081177"/>
            <a:ext cx="2508849" cy="46338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D185FC-2BBB-E997-A5CD-F2C6CF6B7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66800" y="1081177"/>
            <a:ext cx="7505700" cy="46338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14B3C-96CD-071C-C2AD-2C7E04F8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A2B04-F5E0-C5A3-C77D-6AE9A9E91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55BC2-C712-C4A4-50EC-E10D88344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918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F4A25-A386-9574-775C-E5E5F9FC3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36841"/>
            <a:ext cx="8886884" cy="9536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F7885F-2B7B-74DB-9996-E0ACEBC9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9848" y="2139696"/>
            <a:ext cx="8883836" cy="36776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4F519-BA47-2B81-CC1C-7E1F119EC6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7379" y="4629744"/>
            <a:ext cx="2653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351CED-465B-40B5-ADCE-957C918F227B}" type="datetimeFigureOut">
              <a:rPr lang="en-US" smtClean="0"/>
              <a:t>12/15/22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52D7B-C352-1630-4C3D-7D5983C04D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10602" y="6318446"/>
            <a:ext cx="27431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E04F0-DF9B-480B-CC46-BAE7A81FB7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6318446"/>
            <a:ext cx="6156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5A33CB2A-1702-4C1D-9CC4-8D472D39F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15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94" r:id="rId6"/>
    <p:sldLayoutId id="2147483789" r:id="rId7"/>
    <p:sldLayoutId id="2147483790" r:id="rId8"/>
    <p:sldLayoutId id="2147483791" r:id="rId9"/>
    <p:sldLayoutId id="2147483793" r:id="rId10"/>
    <p:sldLayoutId id="21474837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nihcc.app.box.com/v/ChestXray-NIHCC/folder/3693876534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1">
            <a:extLst>
              <a:ext uri="{FF2B5EF4-FFF2-40B4-BE49-F238E27FC236}">
                <a16:creationId xmlns:a16="http://schemas.microsoft.com/office/drawing/2014/main" id="{CAA37442-EAE9-6CFC-AC74-44222B37F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4D9D1-684B-B892-6A3E-DDD85E8172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477379" y="4629744"/>
            <a:ext cx="265350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9B87B5B-3A60-C94C-96F7-6B9B96A07D66}" type="datetime1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12/15/22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ED577-2282-55F0-59CB-6B44723DA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10602" y="6318446"/>
            <a:ext cx="2743198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1" name="Rectangle 13">
            <a:extLst>
              <a:ext uri="{FF2B5EF4-FFF2-40B4-BE49-F238E27FC236}">
                <a16:creationId xmlns:a16="http://schemas.microsoft.com/office/drawing/2014/main" id="{54117A24-9D5E-A791-A2F4-8C81AC60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60265" y="-960268"/>
            <a:ext cx="6857998" cy="87785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6000">
                <a:srgbClr val="000000">
                  <a:alpha val="58000"/>
                </a:srgbClr>
              </a:gs>
              <a:gs pos="100000">
                <a:srgbClr val="000000">
                  <a:alpha val="5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EB7B9-17B5-3852-9FC3-EC41041BE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318446"/>
            <a:ext cx="61569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0A1B158-2240-E140-9FFB-5F425E53AE64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9C425E-675C-6456-5F6A-169871583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638" y="268585"/>
            <a:ext cx="10271432" cy="32169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684AB8-B8C0-544B-56F7-A44A52C47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64" y="4044749"/>
            <a:ext cx="6578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3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B7E0D-9EFB-0D27-7726-5CBDBB8D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9215"/>
            <a:ext cx="8886884" cy="953669"/>
          </a:xfrm>
        </p:spPr>
        <p:txBody>
          <a:bodyPr/>
          <a:lstStyle/>
          <a:p>
            <a:r>
              <a:rPr lang="en-US" dirty="0"/>
              <a:t>Dataset: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F5B70-42BA-956E-164B-6CD8F54A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1555804"/>
            <a:ext cx="10052304" cy="1498026"/>
          </a:xfrm>
        </p:spPr>
        <p:txBody>
          <a:bodyPr/>
          <a:lstStyle/>
          <a:p>
            <a:r>
              <a:rPr lang="en-US" dirty="0"/>
              <a:t>﻿ChestX‑ray14 dataset </a:t>
            </a:r>
            <a:r>
              <a:rPr lang="en-US" dirty="0">
                <a:hlinkClick r:id="rId2"/>
              </a:rPr>
              <a:t>link</a:t>
            </a:r>
            <a:endParaRPr lang="en-US" dirty="0"/>
          </a:p>
          <a:p>
            <a:r>
              <a:rPr lang="en-US" dirty="0"/>
              <a:t>112,120 frontal‑view chest X‑ray images</a:t>
            </a:r>
          </a:p>
          <a:p>
            <a:r>
              <a:rPr lang="en-US" dirty="0"/>
              <a:t>30,805 unique patient identities.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B8C812-6CC2-0E25-F8C4-D542570A2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444" y="3637723"/>
            <a:ext cx="9266708" cy="28181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D0588B-6346-35C3-A29C-8B4F8492148A}"/>
              </a:ext>
            </a:extLst>
          </p:cNvPr>
          <p:cNvSpPr txBox="1"/>
          <p:nvPr/>
        </p:nvSpPr>
        <p:spPr>
          <a:xfrm>
            <a:off x="4109300" y="6499684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Images from ChestX-ray14 dataset</a:t>
            </a:r>
          </a:p>
        </p:txBody>
      </p:sp>
    </p:spTree>
    <p:extLst>
      <p:ext uri="{BB962C8B-B14F-4D97-AF65-F5344CB8AC3E}">
        <p14:creationId xmlns:p14="http://schemas.microsoft.com/office/powerpoint/2010/main" val="1794611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D1A1A-7C7D-6DCF-B91E-1E403B125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7" y="402441"/>
            <a:ext cx="8886884" cy="638180"/>
          </a:xfrm>
        </p:spPr>
        <p:txBody>
          <a:bodyPr/>
          <a:lstStyle/>
          <a:p>
            <a:r>
              <a:rPr lang="en-US" dirty="0"/>
              <a:t>Results: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EA369-2545-E2B2-6EA0-81775C982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643" y="1162878"/>
            <a:ext cx="10267122" cy="5436705"/>
          </a:xfrm>
        </p:spPr>
        <p:txBody>
          <a:bodyPr>
            <a:normAutofit/>
          </a:bodyPr>
          <a:lstStyle/>
          <a:p>
            <a:r>
              <a:rPr lang="en-US" dirty="0"/>
              <a:t>For verification task on X-ray images, it has AUC of  0.9940 and a classification accuracy of 95.55%.</a:t>
            </a:r>
          </a:p>
          <a:p>
            <a:r>
              <a:rPr lang="en-US" dirty="0"/>
              <a:t>Proposed system can reveal the same person even ten and more years after the initial scan. </a:t>
            </a:r>
          </a:p>
          <a:p>
            <a:r>
              <a:rPr lang="en-US" dirty="0"/>
              <a:t>For retrieval task,  </a:t>
            </a:r>
            <a:r>
              <a:rPr lang="en-US" dirty="0" err="1"/>
              <a:t>mAP@R</a:t>
            </a:r>
            <a:r>
              <a:rPr lang="en-US" dirty="0"/>
              <a:t> of 0.9748 and a precision@1 of 0.9963. </a:t>
            </a:r>
          </a:p>
          <a:p>
            <a:r>
              <a:rPr lang="en-US" dirty="0"/>
              <a:t>Achieves an AUC of up to 0.9870 and a precision@1 of up to 0.9444 when evaluating the trained networks on external datasets such as </a:t>
            </a:r>
            <a:r>
              <a:rPr lang="en-US" dirty="0" err="1"/>
              <a:t>CheXpert</a:t>
            </a:r>
            <a:r>
              <a:rPr lang="en-US" dirty="0"/>
              <a:t> and the COVID‑19 Image Data Collection.</a:t>
            </a:r>
          </a:p>
          <a:p>
            <a:r>
              <a:rPr lang="en-US" dirty="0"/>
              <a:t>Based on the high identification rate, a potential attacker may leak patient‑related information and additionally cross‑reference images to obtain more information.</a:t>
            </a:r>
          </a:p>
          <a:p>
            <a:r>
              <a:rPr lang="en-US" dirty="0"/>
              <a:t>It might be the case that some of the images of ChestXray-14 dataset may also be present in the </a:t>
            </a:r>
            <a:r>
              <a:rPr lang="en-US" dirty="0" err="1"/>
              <a:t>CheXpert</a:t>
            </a:r>
            <a:r>
              <a:rPr lang="en-US" dirty="0"/>
              <a:t> and COVID-19 dataset.</a:t>
            </a:r>
          </a:p>
        </p:txBody>
      </p:sp>
    </p:spTree>
    <p:extLst>
      <p:ext uri="{BB962C8B-B14F-4D97-AF65-F5344CB8AC3E}">
        <p14:creationId xmlns:p14="http://schemas.microsoft.com/office/powerpoint/2010/main" val="154821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1507-8BFB-5487-053A-A2A95AEA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2A1F3-660F-AB3D-9AE8-6A2D221D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789302"/>
      </p:ext>
    </p:extLst>
  </p:cSld>
  <p:clrMapOvr>
    <a:masterClrMapping/>
  </p:clrMapOvr>
</p:sld>
</file>

<file path=ppt/theme/theme1.xml><?xml version="1.0" encoding="utf-8"?>
<a:theme xmlns:a="http://schemas.openxmlformats.org/drawingml/2006/main" name="SwellVTI">
  <a:themeElements>
    <a:clrScheme name="AnalogousFromDarkSeedLeftStep">
      <a:dk1>
        <a:srgbClr val="000000"/>
      </a:dk1>
      <a:lt1>
        <a:srgbClr val="FFFFFF"/>
      </a:lt1>
      <a:dk2>
        <a:srgbClr val="1A212E"/>
      </a:dk2>
      <a:lt2>
        <a:srgbClr val="F0F3F1"/>
      </a:lt2>
      <a:accent1>
        <a:srgbClr val="E729A7"/>
      </a:accent1>
      <a:accent2>
        <a:srgbClr val="C517D5"/>
      </a:accent2>
      <a:accent3>
        <a:srgbClr val="8829E7"/>
      </a:accent3>
      <a:accent4>
        <a:srgbClr val="3E30D9"/>
      </a:accent4>
      <a:accent5>
        <a:srgbClr val="2968E7"/>
      </a:accent5>
      <a:accent6>
        <a:srgbClr val="17A5D5"/>
      </a:accent6>
      <a:hlink>
        <a:srgbClr val="3F54BF"/>
      </a:hlink>
      <a:folHlink>
        <a:srgbClr val="7F7F7F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wellVTI" id="{8361A04D-931A-43DC-973B-1B0B1DD5DECC}" vid="{6DDB23E8-D18E-4BDA-98D6-324466149EB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5334180-0405-413B-834A-44FA9E05ADB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A615295-94F6-4CE2-A1B1-6B7E1DAA5A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5BAB77-79E1-4739-AA51-10C9079186D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</TotalTime>
  <Words>171</Words>
  <Application>Microsoft Macintosh PowerPoint</Application>
  <PresentationFormat>Widescreen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Neue Haas Grotesk Text Pro</vt:lpstr>
      <vt:lpstr>SwellVTI</vt:lpstr>
      <vt:lpstr>PowerPoint Presentation</vt:lpstr>
      <vt:lpstr>Dataset:</vt:lpstr>
      <vt:lpstr>Results: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Sony, Redwan</dc:creator>
  <cp:lastModifiedBy>Sony, Redwan</cp:lastModifiedBy>
  <cp:revision>1</cp:revision>
  <dcterms:created xsi:type="dcterms:W3CDTF">2022-12-15T04:57:27Z</dcterms:created>
  <dcterms:modified xsi:type="dcterms:W3CDTF">2022-12-15T06:42:34Z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