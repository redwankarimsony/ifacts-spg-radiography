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63"/>
    <p:restoredTop sz="96654"/>
  </p:normalViewPr>
  <p:slideViewPr>
    <p:cSldViewPr snapToGrid="0">
      <p:cViewPr varScale="1">
        <p:scale>
          <a:sx n="116" d="100"/>
          <a:sy n="116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12/14/22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76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92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8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0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7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2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91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12/15/22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1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94" r:id="rId6"/>
    <p:sldLayoutId id="2147483789" r:id="rId7"/>
    <p:sldLayoutId id="2147483790" r:id="rId8"/>
    <p:sldLayoutId id="2147483791" r:id="rId9"/>
    <p:sldLayoutId id="2147483793" r:id="rId10"/>
    <p:sldLayoutId id="21474837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nihcc.app.box.com/v/ChestXray-NIHCC/folder/36938765345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CAA37442-EAE9-6CFC-AC74-44222B37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4D9D1-684B-B892-6A3E-DDD85E8172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7379" y="4629744"/>
            <a:ext cx="2653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9B87B5B-3A60-C94C-96F7-6B9B96A07D66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12/15/22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ED577-2282-55F0-59CB-6B44723DA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54117A24-9D5E-A791-A2F4-8C81AC60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60265" y="-960268"/>
            <a:ext cx="6857998" cy="87785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8000"/>
                </a:srgbClr>
              </a:gs>
              <a:gs pos="100000">
                <a:srgbClr val="000000">
                  <a:alpha val="5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EB7B9-17B5-3852-9FC3-EC41041BE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0A1B158-2240-E140-9FFB-5F425E53AE6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C425E-675C-6456-5F6A-16987158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38" y="268585"/>
            <a:ext cx="10271432" cy="3216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684AB8-B8C0-544B-56F7-A44A52C4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64" y="4044749"/>
            <a:ext cx="6578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3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7E0D-9EFB-0D27-7726-5CBDBB8D9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9215"/>
            <a:ext cx="8886884" cy="953669"/>
          </a:xfrm>
        </p:spPr>
        <p:txBody>
          <a:bodyPr/>
          <a:lstStyle/>
          <a:p>
            <a:r>
              <a:rPr lang="en-US" dirty="0"/>
              <a:t>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F5B70-42BA-956E-164B-6CD8F54AF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555804"/>
            <a:ext cx="10052304" cy="1498026"/>
          </a:xfrm>
        </p:spPr>
        <p:txBody>
          <a:bodyPr/>
          <a:lstStyle/>
          <a:p>
            <a:r>
              <a:rPr lang="en-US" dirty="0"/>
              <a:t>﻿ChestX‑ray14 dataset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r>
              <a:rPr lang="en-US" dirty="0"/>
              <a:t>112,120 frontal‑view chest X‑ray images</a:t>
            </a:r>
          </a:p>
          <a:p>
            <a:r>
              <a:rPr lang="en-US" dirty="0"/>
              <a:t>30,805 unique patient identities.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8C812-6CC2-0E25-F8C4-D542570A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444" y="3637723"/>
            <a:ext cx="9266708" cy="2818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0588B-6346-35C3-A29C-8B4F8492148A}"/>
              </a:ext>
            </a:extLst>
          </p:cNvPr>
          <p:cNvSpPr txBox="1"/>
          <p:nvPr/>
        </p:nvSpPr>
        <p:spPr>
          <a:xfrm>
            <a:off x="4109300" y="6499684"/>
            <a:ext cx="475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Images from ChestX-ray14 dataset</a:t>
            </a:r>
          </a:p>
        </p:txBody>
      </p:sp>
    </p:spTree>
    <p:extLst>
      <p:ext uri="{BB962C8B-B14F-4D97-AF65-F5344CB8AC3E}">
        <p14:creationId xmlns:p14="http://schemas.microsoft.com/office/powerpoint/2010/main" val="179461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D1A1A-7C7D-6DCF-B91E-1E403B125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402441"/>
            <a:ext cx="8886884" cy="638180"/>
          </a:xfrm>
        </p:spPr>
        <p:txBody>
          <a:bodyPr/>
          <a:lstStyle/>
          <a:p>
            <a:r>
              <a:rPr lang="en-US" dirty="0"/>
              <a:t>Results: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A369-2545-E2B2-6EA0-81775C982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3" y="1162878"/>
            <a:ext cx="10267122" cy="5436705"/>
          </a:xfrm>
        </p:spPr>
        <p:txBody>
          <a:bodyPr>
            <a:normAutofit/>
          </a:bodyPr>
          <a:lstStyle/>
          <a:p>
            <a:r>
              <a:rPr lang="en-US" dirty="0"/>
              <a:t>For verification task on X-ray images, it has AUC of  0.9940 and a classification accuracy of 95.55%.</a:t>
            </a:r>
          </a:p>
          <a:p>
            <a:r>
              <a:rPr lang="en-US" dirty="0"/>
              <a:t>Proposed system can reveal the same person even ten and more years after the initial scan. </a:t>
            </a:r>
          </a:p>
          <a:p>
            <a:r>
              <a:rPr lang="en-US" dirty="0"/>
              <a:t>For retrieval task,  </a:t>
            </a:r>
            <a:r>
              <a:rPr lang="en-US" dirty="0" err="1"/>
              <a:t>mAP@R</a:t>
            </a:r>
            <a:r>
              <a:rPr lang="en-US" dirty="0"/>
              <a:t> of 0.9748 and a precision@1 of 0.9963. </a:t>
            </a:r>
          </a:p>
          <a:p>
            <a:r>
              <a:rPr lang="en-US" dirty="0"/>
              <a:t>Achieves an AUC of up to 0.9870 and a precision@1 of up to 0.9444 when evaluating the trained networks on external datasets such as </a:t>
            </a:r>
            <a:r>
              <a:rPr lang="en-US" dirty="0" err="1"/>
              <a:t>CheXpert</a:t>
            </a:r>
            <a:r>
              <a:rPr lang="en-US" dirty="0"/>
              <a:t> and the COVID‑19 Image Data Collection.</a:t>
            </a:r>
          </a:p>
          <a:p>
            <a:r>
              <a:rPr lang="en-US" dirty="0"/>
              <a:t>Based on the high identification rate, a potential attacker may leak patient‑related information and additionally cross‑reference images to obtain more information.</a:t>
            </a:r>
          </a:p>
          <a:p>
            <a:r>
              <a:rPr lang="en-US" dirty="0"/>
              <a:t>It might be the case that some of the images of ChestXray-14 dataset may also be present in the </a:t>
            </a:r>
            <a:r>
              <a:rPr lang="en-US" dirty="0" err="1"/>
              <a:t>CheXpert</a:t>
            </a:r>
            <a:r>
              <a:rPr lang="en-US" dirty="0"/>
              <a:t> and COVID-19 dataset.</a:t>
            </a:r>
          </a:p>
        </p:txBody>
      </p:sp>
    </p:spTree>
    <p:extLst>
      <p:ext uri="{BB962C8B-B14F-4D97-AF65-F5344CB8AC3E}">
        <p14:creationId xmlns:p14="http://schemas.microsoft.com/office/powerpoint/2010/main" val="154821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1507-8BFB-5487-053A-A2A95AEA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2A1F3-660F-AB3D-9AE8-6A2D221D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89302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AnalogousFromDarkSeedLeftStep">
      <a:dk1>
        <a:srgbClr val="000000"/>
      </a:dk1>
      <a:lt1>
        <a:srgbClr val="FFFFFF"/>
      </a:lt1>
      <a:dk2>
        <a:srgbClr val="1A212E"/>
      </a:dk2>
      <a:lt2>
        <a:srgbClr val="F0F3F1"/>
      </a:lt2>
      <a:accent1>
        <a:srgbClr val="E729A7"/>
      </a:accent1>
      <a:accent2>
        <a:srgbClr val="C517D5"/>
      </a:accent2>
      <a:accent3>
        <a:srgbClr val="8829E7"/>
      </a:accent3>
      <a:accent4>
        <a:srgbClr val="3E30D9"/>
      </a:accent4>
      <a:accent5>
        <a:srgbClr val="2968E7"/>
      </a:accent5>
      <a:accent6>
        <a:srgbClr val="17A5D5"/>
      </a:accent6>
      <a:hlink>
        <a:srgbClr val="3F54BF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171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Neue Haas Grotesk Text Pro</vt:lpstr>
      <vt:lpstr>SwellVTI</vt:lpstr>
      <vt:lpstr>PowerPoint Presentation</vt:lpstr>
      <vt:lpstr>Dataset:</vt:lpstr>
      <vt:lpstr>Results: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Sony, Redwan</dc:creator>
  <cp:lastModifiedBy>Sony, Redwan</cp:lastModifiedBy>
  <cp:revision>1</cp:revision>
  <dcterms:created xsi:type="dcterms:W3CDTF">2022-12-15T04:57:27Z</dcterms:created>
  <dcterms:modified xsi:type="dcterms:W3CDTF">2022-12-15T06:09:12Z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